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\boxed{</a:t>
            </a:r>
          </a:p>
          <a:p>
            <a:pPr>
              <a:defRPr sz="1800"/>
            </a:pPr>
            <a:r>
              <a:rPr sz="1800"/>
              <a:t>```markdown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2: Laying the Blockchain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Laying the Blockchain Foundation</a:t>
            </a:r>
          </a:p>
          <a:p>
            <a:pPr>
              <a:defRPr sz="1800"/>
            </a:pPr>
            <a:r>
              <a:rPr sz="1800"/>
              <a:t>Cryptography:</a:t>
            </a:r>
          </a:p>
          <a:p>
            <a:pPr lvl="1">
              <a:defRPr sz="1800"/>
            </a:pPr>
            <a:r>
              <a:rPr sz="1800"/>
              <a:t>Ensures </a:t>
            </a:r>
            <a:r>
              <a:rPr sz="1800" b="1"/>
              <a:t>confidentiality</a:t>
            </a:r>
            <a:r>
              <a:rPr sz="1800"/>
              <a:t>, </a:t>
            </a:r>
            <a:r>
              <a:rPr sz="1800" b="1"/>
              <a:t>data integrity</a:t>
            </a:r>
            <a:r>
              <a:rPr sz="1800"/>
              <a:t>, </a:t>
            </a:r>
            <a:r>
              <a:rPr sz="1800" b="1"/>
              <a:t>authentication</a:t>
            </a:r>
            <a:r>
              <a:rPr sz="1800"/>
              <a:t>, and </a:t>
            </a:r>
            <a:r>
              <a:rPr sz="1800" b="1"/>
              <a:t>non-repudiation</a:t>
            </a:r>
            <a:r>
              <a:rPr sz="1800"/>
              <a:t>.</a:t>
            </a:r>
          </a:p>
          <a:p>
            <a:pPr>
              <a:defRPr sz="1800"/>
            </a:pPr>
            <a:r>
              <a:rPr sz="1800"/>
              <a:t>Types of Cryptography:</a:t>
            </a:r>
          </a:p>
          <a:p>
            <a:pPr>
              <a:defRPr sz="1800"/>
            </a:pPr>
            <a:r>
              <a:rPr sz="1800"/>
              <a:t>Symmetric Key Cryptography:</a:t>
            </a:r>
          </a:p>
          <a:p>
            <a:pPr lvl="1">
              <a:defRPr sz="1800"/>
            </a:pPr>
            <a:r>
              <a:rPr sz="1800"/>
              <a:t>Single key for encryption and decryption ("shared secret").</a:t>
            </a:r>
          </a:p>
          <a:p>
            <a:pPr lvl="1">
              <a:defRPr sz="1800"/>
            </a:pPr>
            <a:r>
              <a:rPr sz="1800"/>
              <a:t>Faster, suitable for large data.</a:t>
            </a:r>
          </a:p>
          <a:p>
            <a:pPr lvl="1">
              <a:defRPr sz="1800"/>
            </a:pPr>
            <a:r>
              <a:rPr sz="1800"/>
              <a:t>Includes stream ciphers and block ciphers.</a:t>
            </a:r>
          </a:p>
          <a:p>
            <a:pPr lvl="1">
              <a:defRPr sz="1800"/>
            </a:pPr>
            <a:r>
              <a:rPr sz="1800"/>
              <a:t>Examples: HTTPS, SFTP, WebDAVS.</a:t>
            </a:r>
          </a:p>
          <a:p>
            <a:pPr>
              <a:defRPr sz="1800"/>
            </a:pPr>
            <a:r>
              <a:rPr sz="1800"/>
              <a:t>Asymmetric Key Cryptography (Public Key Cryptography):</a:t>
            </a:r>
          </a:p>
          <a:p>
            <a:pPr lvl="1">
              <a:defRPr sz="1800"/>
            </a:pPr>
            <a:r>
              <a:rPr sz="1800"/>
              <a:t>Uses a pair of keys: public key for encryption or signature verification, private key for decryption or signing.</a:t>
            </a:r>
          </a:p>
          <a:p>
            <a:pPr lvl="1">
              <a:defRPr sz="1800"/>
            </a:pPr>
            <a:r>
              <a:rPr sz="1800"/>
              <a:t>Addresses key distribution issue in symmetric key cryptography.</a:t>
            </a:r>
          </a:p>
          <a:p>
            <a:pPr lvl="1">
              <a:defRPr sz="1800"/>
            </a:pPr>
            <a:r>
              <a:rPr sz="1800"/>
              <a:t>Used for digital signatures where a message is first signed with the sender’s private key and then encrypted with the receiver’s public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Symmetric vs. Asymmetric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Symmetric vs. Asymmetric Key Cryptography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2004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**Symmetric Key Cryptography**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**Asymmetric Key Cryptography**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---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Single key shared between sender and receiver.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Two keys (public and private) for each participant.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Key exchange is a major issue.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key exchange problem.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Faster encryption/decryption, suitable for long messages.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Slower encryption/decryption, suitable for short messages.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Requires $n(n-1)/2$ keys for $n$ participants.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Requires two keys per participant.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Theory and Computer Science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Game Theory and Computer Science Engineering</a:t>
            </a:r>
          </a:p>
          <a:p>
            <a:pPr>
              <a:defRPr sz="1800"/>
            </a:pPr>
            <a:r>
              <a:rPr sz="1800"/>
              <a:t>Game Theory:</a:t>
            </a:r>
          </a:p>
          <a:p>
            <a:pPr lvl="1">
              <a:defRPr sz="1800"/>
            </a:pPr>
            <a:r>
              <a:rPr sz="1800"/>
              <a:t>Introduced by John Von Neumann.</a:t>
            </a:r>
          </a:p>
          <a:p>
            <a:pPr lvl="1">
              <a:defRPr sz="1800"/>
            </a:pPr>
            <a:r>
              <a:rPr sz="1800"/>
              <a:t>Studies strategic decision-making where the outcome depends on actions of multiple participants.</a:t>
            </a:r>
          </a:p>
          <a:p>
            <a:pPr lvl="1">
              <a:defRPr sz="1800"/>
            </a:pPr>
            <a:r>
              <a:rPr sz="1800"/>
              <a:t>Focuses on making the best move or strategy based on a given objective.</a:t>
            </a:r>
          </a:p>
          <a:p>
            <a:pPr>
              <a:defRPr sz="1800"/>
            </a:pPr>
            <a:r>
              <a:rPr sz="1800"/>
              <a:t>Computer Science Engineering:</a:t>
            </a:r>
          </a:p>
          <a:p>
            <a:pPr lvl="1">
              <a:defRPr sz="1800"/>
            </a:pPr>
            <a:r>
              <a:rPr sz="1800"/>
              <a:t>Integrates cryptography and game theory.</a:t>
            </a:r>
          </a:p>
          <a:p>
            <a:pPr>
              <a:defRPr sz="1800"/>
            </a:pPr>
            <a:r>
              <a:rPr sz="1800"/>
              <a:t>Key Components in Blockchain:</a:t>
            </a:r>
          </a:p>
          <a:p>
            <a:pPr>
              <a:defRPr sz="1800"/>
            </a:pPr>
            <a:r>
              <a:rPr sz="1800"/>
              <a:t>Hash Pointers:</a:t>
            </a:r>
          </a:p>
          <a:p>
            <a:pPr lvl="1">
              <a:defRPr sz="1800"/>
            </a:pPr>
            <a:r>
              <a:rPr sz="1800"/>
              <a:t>Cryptographic hashes that point to a block of data where the hash is the hash of the data block.</a:t>
            </a:r>
          </a:p>
          <a:p>
            <a:pPr lvl="1">
              <a:defRPr sz="1800"/>
            </a:pPr>
            <a:r>
              <a:rPr sz="1800"/>
              <a:t>Provides a way to verify data integrity.</a:t>
            </a:r>
          </a:p>
          <a:p>
            <a:pPr>
              <a:defRPr sz="1800"/>
            </a:pPr>
            <a:r>
              <a:rPr sz="1800"/>
              <a:t>Merkle Trees:</a:t>
            </a:r>
          </a:p>
          <a:p>
            <a:pPr lvl="1">
              <a:defRPr sz="1800"/>
            </a:pPr>
            <a:r>
              <a:rPr sz="1800"/>
              <a:t>Binary tree of cryptographic hash pointers where leaves are transactions hashed in pairs until a single root hash (Merkle root) is formed.</a:t>
            </a:r>
          </a:p>
          <a:p>
            <a:pPr lvl="1">
              <a:defRPr sz="1800"/>
            </a:pPr>
            <a:r>
              <a:rPr sz="1800"/>
              <a:t>Enables efficient verification of transactions within a block.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 Pointers and Merkle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Hash Pointers and Merkle Trees</a:t>
            </a:r>
          </a:p>
          <a:p>
            <a:pPr>
              <a:defRPr sz="1800"/>
            </a:pPr>
            <a:r>
              <a:rPr sz="1800"/>
              <a:t>Hash Pointers:</a:t>
            </a:r>
          </a:p>
          <a:p>
            <a:pPr lvl="1">
              <a:defRPr sz="1800"/>
            </a:pPr>
            <a:r>
              <a:rPr sz="1800"/>
              <a:t>A block in a blockchain is identified by its hash.</a:t>
            </a:r>
          </a:p>
          <a:p>
            <a:pPr lvl="1">
              <a:defRPr sz="1800"/>
            </a:pPr>
            <a:r>
              <a:rPr sz="1800"/>
              <a:t>The SHA-256 cryptographic hash function produces a 256-bit hash output.</a:t>
            </a:r>
          </a:p>
          <a:p>
            <a:pPr lvl="1">
              <a:defRPr sz="1800"/>
            </a:pPr>
            <a:r>
              <a:rPr sz="1800"/>
              <a:t>Any attempt to alter a transaction results in a change in the block's hash, which is stored in the header of the next block, making the blockchain tamper-resistant.</a:t>
            </a:r>
          </a:p>
          <a:p>
            <a:pPr>
              <a:defRPr sz="1800"/>
            </a:pPr>
            <a:r>
              <a:rPr sz="1800"/>
              <a:t>Merkle Trees:</a:t>
            </a:r>
          </a:p>
          <a:p>
            <a:pPr lvl="1">
              <a:defRPr sz="1800"/>
            </a:pPr>
            <a:r>
              <a:rPr sz="1800"/>
              <a:t>Binary tree where the leaves are transactions hashed pairwise until a single root hash (Merkle root) is reached.</a:t>
            </a:r>
          </a:p>
          <a:p>
            <a:pPr lvl="1">
              <a:defRPr sz="1800"/>
            </a:pPr>
            <a:r>
              <a:rPr sz="1800"/>
              <a:t>Allows efficient verification that a specific transaction belongs to a block in \log(n) steps where n is the number of transactions in the block.</a:t>
            </a:r>
          </a:p>
          <a:p>
            <a:pPr lvl="1">
              <a:defRPr sz="1800"/>
            </a:pPr>
            <a:r>
              <a:rPr sz="1800"/>
              <a:t>Used in Bitcoin, BitTorrent, Cassandra, and Apache Wave.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Blockchain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Properties of Blockchain Solutions</a:t>
            </a:r>
          </a:p>
          <a:p>
            <a:pPr>
              <a:defRPr sz="1800"/>
            </a:pPr>
            <a:r>
              <a:rPr sz="1800"/>
              <a:t>1. </a:t>
            </a:r>
            <a:r>
              <a:rPr sz="1800" b="1"/>
              <a:t>Immutability</a:t>
            </a:r>
            <a:r>
              <a:rPr sz="1800"/>
              <a:t>: Once a transaction is recorded on a blockchain, it cannot be altered.</a:t>
            </a:r>
          </a:p>
          <a:p>
            <a:pPr>
              <a:defRPr sz="1800"/>
            </a:pPr>
            <a:r>
              <a:rPr sz="1800"/>
              <a:t>2. </a:t>
            </a:r>
            <a:r>
              <a:rPr sz="1800" b="1"/>
              <a:t>Forgery Resistant</a:t>
            </a:r>
            <a:r>
              <a:rPr sz="1800"/>
              <a:t>: Uses cryptographic hashes and digital signatures to make the system resistant to forgeries.</a:t>
            </a:r>
          </a:p>
          <a:p>
            <a:pPr>
              <a:defRPr sz="1800"/>
            </a:pPr>
            <a:r>
              <a:rPr sz="1800"/>
              <a:t>3. </a:t>
            </a:r>
            <a:r>
              <a:rPr sz="1800" b="1"/>
              <a:t>Democratic</a:t>
            </a:r>
            <a:r>
              <a:rPr sz="1800"/>
              <a:t>: Decentralized peer-to-peer systems where all participants have equal rights and decisions are made by consensus.</a:t>
            </a:r>
          </a:p>
          <a:p>
            <a:pPr>
              <a:defRPr sz="1800"/>
            </a:pPr>
            <a:r>
              <a:rPr sz="1800"/>
              <a:t>4. </a:t>
            </a:r>
            <a:r>
              <a:rPr sz="1800" b="1"/>
              <a:t>Double-Spend Resistant</a:t>
            </a:r>
            <a:r>
              <a:rPr sz="1800"/>
              <a:t>: Prevents spending the same digital currency twice by ensuring that all transactions are known to the validating nodes.</a:t>
            </a:r>
          </a:p>
          <a:p>
            <a:pPr>
              <a:defRPr sz="1800"/>
            </a:pPr>
            <a:r>
              <a:rPr sz="1800"/>
              <a:t>5. </a:t>
            </a:r>
            <a:r>
              <a:rPr sz="1800" b="1"/>
              <a:t>Consistent State of the Ledger</a:t>
            </a:r>
            <a:r>
              <a:rPr sz="1800"/>
              <a:t>: Ensures that the ledger state is consistent across the network through a consensus algorithm.</a:t>
            </a:r>
          </a:p>
          <a:p>
            <a:pPr>
              <a:defRPr sz="1800"/>
            </a:pPr>
            <a:r>
              <a:rPr sz="1800"/>
              <a:t>6. </a:t>
            </a:r>
            <a:r>
              <a:rPr sz="1800" b="1"/>
              <a:t>Resilient</a:t>
            </a:r>
            <a:r>
              <a:rPr sz="1800"/>
              <a:t>: The network can withstand temporary node failures, unavailability of some nodes, network latency, and packet drops.</a:t>
            </a:r>
          </a:p>
          <a:p>
            <a:pPr>
              <a:defRPr sz="1800"/>
            </a:pPr>
            <a:r>
              <a:rPr sz="1800"/>
              <a:t>7. </a:t>
            </a:r>
            <a:r>
              <a:rPr sz="1800" b="1"/>
              <a:t>Auditable</a:t>
            </a:r>
            <a:r>
              <a:rPr sz="1800"/>
              <a:t>: The blockchain contains a chain of blocks linked by hashes until the genesis block, making it easily auditable.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Transactions and Distributed Consensus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Blockchain Transactions and Distributed Consensus Mechanisms</a:t>
            </a:r>
          </a:p>
          <a:p>
            <a:pPr>
              <a:defRPr sz="1800"/>
            </a:pPr>
            <a:r>
              <a:rPr sz="1800"/>
              <a:t>Blockchain Transactions:</a:t>
            </a:r>
          </a:p>
          <a:p>
            <a:pPr lvl="1">
              <a:defRPr sz="1800"/>
            </a:pPr>
            <a:r>
              <a:rPr sz="1800"/>
              <a:t>A transaction goes through a series of steps until it is recorded in the blockchain.</a:t>
            </a:r>
          </a:p>
          <a:p>
            <a:pPr>
              <a:defRPr sz="1800"/>
            </a:pPr>
            <a:r>
              <a:rPr sz="1800"/>
              <a:t>Distributed Consensus Mechanisms:</a:t>
            </a:r>
          </a:p>
          <a:p>
            <a:pPr>
              <a:defRPr sz="1800"/>
            </a:pPr>
            <a:r>
              <a:rPr sz="1800"/>
              <a:t>Proof of Work (PoW):</a:t>
            </a:r>
          </a:p>
          <a:p>
            <a:pPr lvl="1">
              <a:defRPr sz="1800"/>
            </a:pPr>
            <a:r>
              <a:rPr sz="1800"/>
              <a:t>Requires a node to perform a computationally intensive task (solve a puzzle) to propose a block.</a:t>
            </a:r>
          </a:p>
          <a:p>
            <a:pPr lvl="1">
              <a:defRPr sz="1800"/>
            </a:pPr>
            <a:r>
              <a:rPr sz="1800"/>
              <a:t>Once the task is completed, the block is verified easily by others, discouraging fraud.</a:t>
            </a:r>
          </a:p>
          <a:p>
            <a:pPr>
              <a:defRPr sz="1800"/>
            </a:pPr>
            <a:r>
              <a:rPr sz="1800"/>
              <a:t>Proof of Stake (PoS):</a:t>
            </a:r>
          </a:p>
          <a:p>
            <a:pPr lvl="1">
              <a:defRPr sz="1800"/>
            </a:pPr>
            <a:r>
              <a:rPr sz="1800"/>
              <a:t>Validators are chosen based on the amount of cryptocurrency they hold (stake).</a:t>
            </a:r>
          </a:p>
          <a:p>
            <a:pPr lvl="1">
              <a:defRPr sz="1800"/>
            </a:pPr>
            <a:r>
              <a:rPr sz="1800"/>
              <a:t>The more stake a validator has, the higher their chance of validating a new block.</a:t>
            </a:r>
          </a:p>
          <a:p>
            <a:pPr lvl="1">
              <a:defRPr sz="1800"/>
            </a:pPr>
            <a:r>
              <a:rPr sz="1800"/>
              <a:t>Variants include naive PoS, delegated PoS (DPoS), chain-based PoS, BFT-style PoS, and Casper PoS.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 sz="1800"/>
              <a:t>Blockchain Applications</a:t>
            </a:r>
          </a:p>
          <a:p>
            <a:pPr>
              <a:defRPr sz="1800"/>
            </a:pPr>
            <a:r>
              <a:rPr sz="1800"/>
              <a:t>Blockchains can be used as backend databases behind web servers or as completely decentralized applications without centralized servers.</a:t>
            </a:r>
          </a:p>
          <a:p>
            <a:pPr>
              <a:defRPr sz="1800"/>
            </a:pPr>
            <a:r>
              <a:rPr sz="1800"/>
              <a:t>Public blockchains like Bitcoin do not rely on any central server.</a:t>
            </a:r>
          </a:p>
          <a:p>
            <a:pPr>
              <a:defRPr sz="1800"/>
            </a:pPr>
            <a:r>
              <a:rPr sz="1800"/>
              <a:t>Private blockchains can be hosted on cloud services such as Microsoft Azure or IBM Bluemix, using Blockchain-as-a-Service (BaaS).</a:t>
            </a:r>
          </a:p>
          <a:p>
            <a:pPr>
              <a:defRPr sz="1800"/>
            </a:pPr>
            <a:r>
              <a:rPr sz="1800"/>
              <a:t>Decentralized applications (DApps) can be built on Ethereum blockchain networks, which can be either permissioned (private) or permissionless (public).</a:t>
            </a:r>
          </a:p>
          <a:p>
            <a:pPr>
              <a:defRPr sz="1800"/>
            </a:pPr>
            <a:r>
              <a:rPr sz="1800"/>
              <a:t>Hybrid applications might use legacy applications alongside blockchain for specific purposes.</a:t>
            </a:r>
          </a:p>
          <a:p>
            <a:pPr>
              <a:defRPr sz="1800"/>
            </a:pPr>
            <a:r>
              <a:rPr sz="1800"/>
              <a:t>```</a:t>
            </a:r>
          </a:p>
          <a:p>
            <a:pPr>
              <a:defRPr sz="1800"/>
            </a:pPr>
            <a:r>
              <a:rPr sz="1800"/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