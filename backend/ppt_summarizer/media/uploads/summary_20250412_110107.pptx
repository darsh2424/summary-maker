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\boxed{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Introduction to Blockchain in India</a:t>
            </a:r>
          </a:p>
          <a:p>
            <a:pPr>
              <a:defRPr sz="1800"/>
            </a:pPr>
            <a:r>
              <a:rPr sz="1800"/>
              <a:t>Tech Mahindra collaborates with Quantoz for secure digital payments.</a:t>
            </a:r>
          </a:p>
          <a:p>
            <a:pPr>
              <a:defRPr sz="1800"/>
            </a:pPr>
            <a:r>
              <a:rPr sz="1800"/>
              <a:t>TCS launched a multi-brand consumer loyalty platform on R3’s Corda.</a:t>
            </a:r>
          </a:p>
          <a:p>
            <a:pPr>
              <a:defRPr sz="1800"/>
            </a:pPr>
            <a:r>
              <a:rPr sz="1800"/>
              <a:t>India's defense minister highlighted blockchain use cases in defense.</a:t>
            </a:r>
          </a:p>
          <a:p>
            <a:pPr>
              <a:defRPr sz="1800"/>
            </a:pPr>
            <a:r>
              <a:rPr sz="1800"/>
              <a:t>Indian government established the Distributed Center of Excellence in Blockchain Technology.</a:t>
            </a:r>
          </a:p>
          <a:p>
            <a:pPr>
              <a:defRPr sz="1800"/>
            </a:pPr>
            <a:r>
              <a:rPr sz="1800"/>
              <a:t>Projects include:</a:t>
            </a:r>
          </a:p>
          <a:p>
            <a:pPr lvl="1">
              <a:defRPr sz="1800"/>
            </a:pPr>
            <a:r>
              <a:rPr sz="1800"/>
              <a:t>Property registration in Shamshabad District, Telangana.</a:t>
            </a:r>
          </a:p>
          <a:p>
            <a:pPr lvl="1">
              <a:defRPr sz="1800"/>
            </a:pPr>
            <a:r>
              <a:rPr sz="1800"/>
              <a:t>Authentication of academic certificates.</a:t>
            </a:r>
          </a:p>
          <a:p>
            <a:pPr lvl="1">
              <a:defRPr sz="1800"/>
            </a:pPr>
            <a:r>
              <a:rPr sz="1800"/>
              <a:t>Vehicle life cycle management.</a:t>
            </a:r>
          </a:p>
          <a:p>
            <a:pPr lvl="1">
              <a:defRPr sz="1800"/>
            </a:pPr>
            <a:r>
              <a:rPr sz="1800"/>
              <a:t>Hotel registry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Blockchain Basics</a:t>
            </a:r>
          </a:p>
          <a:p>
            <a:pPr>
              <a:defRPr sz="1800"/>
            </a:pPr>
            <a:r>
              <a:rPr sz="1800"/>
              <a:t>Peer-to-peer system for transacting values without trusted third parties.</a:t>
            </a:r>
          </a:p>
          <a:p>
            <a:pPr>
              <a:defRPr sz="1800"/>
            </a:pPr>
            <a:r>
              <a:rPr sz="1800"/>
              <a:t>Shared, decentralized, and open ledger where every entry is permanent and reflected on all copies held by different nodes.</a:t>
            </a:r>
          </a:p>
          <a:p>
            <a:pPr>
              <a:defRPr sz="1800"/>
            </a:pPr>
            <a:r>
              <a:rPr sz="1800"/>
              <a:t>List of blocks containing immutable data or code, linked and secured with cryptographic hashes (fingerprints) and publicly available over the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Block Structure</a:t>
            </a:r>
          </a:p>
          <a:p>
            <a:pPr>
              <a:defRPr sz="1800"/>
            </a:pPr>
            <a:r>
              <a:rPr sz="1800"/>
              <a:t>Block has a "header" part that links to the previous block with a parent hash.</a:t>
            </a:r>
          </a:p>
          <a:p>
            <a:pPr>
              <a:defRPr sz="1800"/>
            </a:pPr>
            <a:r>
              <a:rPr sz="1800"/>
              <a:t>"Body content" part contains a validated list of transactions (transaction amounts, addresses of parties involved, and other details).</a:t>
            </a:r>
          </a:p>
          <a:p>
            <a:pPr>
              <a:defRPr sz="1800"/>
            </a:pPr>
            <a:r>
              <a:rPr sz="1800"/>
              <a:t>First block called "GENESIS_BLOCK" does not have a previous hash.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vs. Decentralized vs. Distributed Decentralized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Centralized vs. Decentralized vs. Distributed Decentralized Systems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Centralized Systems: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Easy to design, maintain, and govern.</a:t>
            </a:r>
          </a:p>
          <a:p>
            <a:pPr>
              <a:defRPr sz="1800"/>
            </a:pPr>
            <a:r>
              <a:rPr sz="1800"/>
              <a:t>Central point of failure makes them less stable and more vulnerable to attacks.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Decentralized Systems: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No central point of failure, making them more stable and attack-resistant.</a:t>
            </a:r>
          </a:p>
          <a:p>
            <a:pPr>
              <a:defRPr sz="1800"/>
            </a:pPr>
            <a:r>
              <a:rPr sz="1800"/>
              <a:t>Difficult to design, maintain, govern, or impose trust.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Blockchain as a Distributed System: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Tasks are not subdivided among nodes; interested or randomly chosen nodes perform the entire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Layers of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Layers of Blockchain</a:t>
            </a:r>
          </a:p>
          <a:p>
            <a:pPr>
              <a:defRPr sz="1800"/>
            </a:pPr>
            <a:r>
              <a:rPr sz="1800"/>
              <a:t>1. </a:t>
            </a:r>
            <a:r>
              <a:rPr sz="1800" b="1"/>
              <a:t>Application Layer: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Coding functionalities (client-side programming, scripting, APIs) and off-chain networks.</a:t>
            </a:r>
          </a:p>
          <a:p>
            <a:pPr>
              <a:defRPr sz="1800"/>
            </a:pPr>
            <a:r>
              <a:rPr sz="1800"/>
              <a:t>2. </a:t>
            </a:r>
            <a:r>
              <a:rPr sz="1800" b="1"/>
              <a:t>Execution Layer: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Executes instructions from the Application Layer (e.g., smart contracts).</a:t>
            </a:r>
          </a:p>
          <a:p>
            <a:pPr>
              <a:defRPr sz="1800"/>
            </a:pPr>
            <a:r>
              <a:rPr sz="1800"/>
              <a:t>3. </a:t>
            </a:r>
            <a:r>
              <a:rPr sz="1800" b="1"/>
              <a:t>Semantic Layer: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Validates transactions for legitimacy (double-spend attacks, node authorization, previous transactions).</a:t>
            </a:r>
          </a:p>
          <a:p>
            <a:pPr>
              <a:defRPr sz="1800"/>
            </a:pPr>
            <a:r>
              <a:rPr sz="1800"/>
              <a:t>4. </a:t>
            </a:r>
            <a:r>
              <a:rPr sz="1800" b="1"/>
              <a:t>Propagation Layer: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Handles peer-to-peer communication allowing nodes to sync and propagate transactions and blocks.</a:t>
            </a:r>
          </a:p>
          <a:p>
            <a:pPr>
              <a:defRPr sz="1800"/>
            </a:pPr>
            <a:r>
              <a:rPr sz="1800"/>
              <a:t>5. </a:t>
            </a:r>
            <a:r>
              <a:rPr sz="1800" b="1"/>
              <a:t>Consensus Layer: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Ensures all nodes agree on a consistent state of the ledger (e.g., Proof of Work or Proof of Stake).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of Proposing a New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Process of Proposing a New Block</a:t>
            </a:r>
          </a:p>
          <a:p>
            <a:pPr>
              <a:defRPr sz="1800"/>
            </a:pPr>
            <a:r>
              <a:rPr sz="1800"/>
              <a:t>1. Transaction Collection: Miners gather unconfirmed transactions from the mempool.</a:t>
            </a:r>
          </a:p>
          <a:p>
            <a:pPr>
              <a:defRPr sz="1800"/>
            </a:pPr>
            <a:r>
              <a:rPr sz="1800"/>
              <a:t>2. Transaction Verification: Miners verify that transactions are valid (correct digital signatures and sufficient sender balance).</a:t>
            </a:r>
          </a:p>
          <a:p>
            <a:pPr>
              <a:defRPr sz="1800"/>
            </a:pPr>
            <a:r>
              <a:rPr sz="1800"/>
              <a:t>3. Mining the Block: Miners try to find a valid hash for the block header using a cryptographic hashing algorithm (e.g., SHA-256 in Bitcoin).</a:t>
            </a:r>
          </a:p>
          <a:p>
            <a:pPr>
              <a:defRPr sz="1800"/>
            </a:pPr>
            <a:r>
              <a:rPr sz="1800"/>
              <a:t>4. Validating and Broadcasting the Block: The valid hash is broadcasted to the network for validation.</a:t>
            </a:r>
          </a:p>
          <a:p>
            <a:pPr>
              <a:defRPr sz="1800"/>
            </a:pPr>
            <a:r>
              <a:rPr sz="1800"/>
              <a:t>5. Block Addition to the Blockchain: If validated, the block is added to the blockchain and nodes update their ledger.</a:t>
            </a:r>
          </a:p>
          <a:p>
            <a:pPr>
              <a:defRPr sz="1800"/>
            </a:pPr>
            <a:r>
              <a:rPr sz="1800"/>
              <a:t>6. Reward for the Miner: The successful miner receives a block reward (e.g., newly minted cryptocurrency like Bitcoin).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Consensus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Consensus Mechanisms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Proof of Work (PoW):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Miners solve cryptographic puzzles (e.g., Bitcoin, Litecoin, Dogecoin).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Proof of Stake (PoS):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Validators are chosen based on the amount of cryptocurrency they stake (e.g., Ethereum 2.0, Cardano, Solana).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Comparison of PoW and PoS: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PoW requires high energy and powerful hardware.</a:t>
            </a:r>
          </a:p>
          <a:p>
            <a:pPr>
              <a:defRPr sz="1800"/>
            </a:pPr>
            <a:r>
              <a:rPr sz="1800"/>
              <a:t>PoS requires less energy and less powerful hardware.</a:t>
            </a:r>
          </a:p>
          <a:p>
            <a:pPr>
              <a:defRPr sz="1800"/>
            </a:pPr>
            <a:r>
              <a:rPr sz="1800"/>
              <a:t>PoW rewards miners with block rewards and transaction fees.</a:t>
            </a:r>
          </a:p>
          <a:p>
            <a:pPr>
              <a:defRPr sz="1800"/>
            </a:pPr>
            <a:r>
              <a:rPr sz="1800"/>
              <a:t>PoS rewards validators with staking rewards and transaction fees.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/ Libraries for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Software / Libraries for Blockchain</a:t>
            </a:r>
          </a:p>
          <a:p>
            <a:pPr>
              <a:defRPr sz="1800"/>
            </a:pPr>
            <a:r>
              <a:rPr sz="1800"/>
              <a:t>Decentralized Application (dApp) Platforms such as Ethereum, Binance Smart Chain (BSC), Solana, and Polkadot.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Mining</a:t>
            </a:r>
          </a:p>
          <a:p>
            <a:pPr>
              <a:defRPr sz="1800"/>
            </a:pPr>
            <a:r>
              <a:rPr sz="1800"/>
              <a:t>Verifies bitcoin transactions and stores them in a blockchain ledger.</a:t>
            </a:r>
          </a:p>
          <a:p>
            <a:pPr>
              <a:defRPr sz="1800"/>
            </a:pPr>
            <a:r>
              <a:rPr sz="1800"/>
              <a:t>Miners solve mathematical puzzles (proof of work) to validate transactions and receive block rewards.</a:t>
            </a:r>
          </a:p>
          <a:p>
            <a:pPr>
              <a:defRPr sz="1800"/>
            </a:pPr>
            <a:r>
              <a:rPr sz="1800"/>
              <a:t>Requires specialized hardware (ASICs) and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Can Propose a Block?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Who Can Propose a Block?</a:t>
            </a:r>
          </a:p>
          <a:p>
            <a:pPr>
              <a:defRPr sz="1800"/>
            </a:pPr>
            <a:r>
              <a:rPr sz="1800"/>
              <a:t>1. Join a Mining Pool where the pool operator proposes blocks for miners.</a:t>
            </a:r>
          </a:p>
          <a:p>
            <a:pPr>
              <a:defRPr sz="1800"/>
            </a:pPr>
            <a:r>
              <a:rPr sz="1800"/>
              <a:t>2. Cloud Mining Services where companies operate the hardware and propose blocks.</a:t>
            </a:r>
          </a:p>
          <a:p>
            <a:pPr>
              <a:defRPr sz="1800"/>
            </a:pPr>
            <a:r>
              <a:rPr sz="1800"/>
              <a:t>3. Mining as a Service (MaaS) where specialized firms mine on your behalf and share profits.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Smart Contracts</a:t>
            </a:r>
          </a:p>
          <a:p>
            <a:pPr>
              <a:defRPr sz="1800"/>
            </a:pPr>
            <a:r>
              <a:rPr sz="1800"/>
              <a:t>Lines of code stored on a blockchain that automatically execute when predetermined conditions are met.</a:t>
            </a:r>
          </a:p>
          <a:p>
            <a:pPr>
              <a:defRPr sz="1800"/>
            </a:pPr>
            <a:r>
              <a:rPr sz="1800"/>
              <a:t>Used in business collaborations to enforce agreements (e.g., payment release upon successful delivery confirmation in supply chain management).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DApps (Decentralized Applications)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DApps (Decentralized Applications)</a:t>
            </a:r>
          </a:p>
          <a:p>
            <a:pPr>
              <a:defRPr sz="1800"/>
            </a:pPr>
            <a:r>
              <a:rPr sz="1800"/>
              <a:t>Applications that run on a distributed computing system using distributed ledger technologies (DLT).</a:t>
            </a:r>
          </a:p>
          <a:p>
            <a:pPr>
              <a:defRPr sz="1800"/>
            </a:pPr>
            <a:r>
              <a:rPr sz="1800"/>
              <a:t>Examples include Uniswap (decentralized finance), Steemit (decentralized blogging), and Medicalchain (healthcare for secure storage of electronic health records).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Applications of Blockchain Technology (BCT)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Other Applications of Blockchain Technology (BCT)</a:t>
            </a:r>
          </a:p>
          <a:p>
            <a:pPr>
              <a:defRPr sz="1800"/>
            </a:pPr>
            <a:r>
              <a:rPr sz="1800"/>
              <a:t>Financial markets, media and entertainment, energy trading, prediction markets, retail chains, loyalty rewards systems, insurance, logistics and supply chains, medical records, and government and military applications.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Wallet</a:t>
            </a:r>
          </a:p>
          <a:p>
            <a:pPr>
              <a:defRPr sz="1800"/>
            </a:pPr>
            <a:r>
              <a:rPr sz="1800"/>
              <a:t>Stores a user’s public and private keys and facilitates sending and receiving digital currency.</a:t>
            </a:r>
          </a:p>
          <a:p>
            <a:pPr>
              <a:defRPr sz="1800"/>
            </a:pPr>
            <a:r>
              <a:rPr sz="1800"/>
              <a:t>Examples include MetaMask, Trust Wallet, Exodus, Coinbase Wallet, and Electrum.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Threats &amp; Challenges</a:t>
            </a:r>
          </a:p>
          <a:p>
            <a:pPr>
              <a:defRPr sz="1800"/>
            </a:pPr>
            <a:r>
              <a:rPr sz="1800"/>
              <a:t>1. </a:t>
            </a:r>
            <a:r>
              <a:rPr sz="1800" b="1"/>
              <a:t>Double Spending: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Spending the same cryptocurrency amount twice, prevented by using timestamps.</a:t>
            </a:r>
          </a:p>
          <a:p>
            <a:pPr>
              <a:defRPr sz="1800"/>
            </a:pPr>
            <a:r>
              <a:rPr sz="1800"/>
              <a:t>2. </a:t>
            </a:r>
            <a:r>
              <a:rPr sz="1800" b="1"/>
              <a:t>Denial of Service Attack: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Sending fake blocks to slow down the network, mitigated by private/permissioned blockchains.</a:t>
            </a:r>
          </a:p>
          <a:p>
            <a:pPr>
              <a:defRPr sz="1800"/>
            </a:pPr>
            <a:r>
              <a:rPr sz="1800"/>
              <a:t>3. </a:t>
            </a:r>
            <a:r>
              <a:rPr sz="1800" b="1"/>
              <a:t>Block Time: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Varies (Bitcoin takes about 10 minutes, Ethereum takes 13-15 seconds).</a:t>
            </a:r>
          </a:p>
          <a:p>
            <a:pPr>
              <a:defRPr sz="1800"/>
            </a:pPr>
            <a:r>
              <a:rPr sz="1800"/>
              <a:t>4. </a:t>
            </a:r>
            <a:r>
              <a:rPr sz="1800" b="1"/>
              <a:t>51% Attack:</a:t>
            </a:r>
            <a:r>
              <a:rPr sz="1800"/>
              <a:t/>
            </a:r>
          </a:p>
          <a:p>
            <a:pPr>
              <a:defRPr sz="1800"/>
            </a:pPr>
            <a:r>
              <a:rPr sz="1800"/>
              <a:t>If a miner controls more than 50% of the network's mining power, they can manipulate transactions. Ripple uses an 80% consensus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Fork in Blockchain (Soft Fork &amp; Hard Fork)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Fork in Blockchain (Soft Fork &amp; Hard Fork)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Fork:</a:t>
            </a:r>
            <a:r>
              <a:rPr sz="1800"/>
              <a:t> Occurs when the network’s rules or protocols are updated.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Hard Fork:</a:t>
            </a:r>
            <a:r>
              <a:rPr sz="1800"/>
              <a:t> A major change that makes previous versions incompatible (e.g., Bitcoin Cash split from Bitcoin).</a:t>
            </a:r>
          </a:p>
          <a:p>
            <a:pPr>
              <a:defRPr sz="1800"/>
            </a:pPr>
            <a:r>
              <a:rPr sz="1800"/>
              <a:t/>
            </a:r>
            <a:r>
              <a:rPr sz="1800" b="1"/>
              <a:t>Soft Fork:</a:t>
            </a:r>
            <a:r>
              <a:rPr sz="1800"/>
              <a:t> A minor upgrade that remains compatible with previous versions (e.g., SegWit update in Bitcoin).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Segwit (Segregated Witness)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Segwit (Segregated Witness)</a:t>
            </a:r>
          </a:p>
          <a:p>
            <a:pPr>
              <a:defRPr sz="1800"/>
            </a:pPr>
            <a:r>
              <a:rPr sz="1800"/>
              <a:t>Imposes a block size limit of 1 MB and moves the "witness" part of the block (signature) to the trailing part, making mining easier and faster.</a:t>
            </a:r>
          </a:p>
          <a:p>
            <a:pPr>
              <a:defRPr sz="1800"/>
            </a:pPr>
            <a:r>
              <a:rPr sz="1800"/>
              <a:t>Implemented in cryptocurrencies like Groestlcoin, Litecoin, DigiByte, and Vertcoin.</a:t>
            </a:r>
          </a:p>
          <a:p>
            <a:pPr>
              <a:defRPr sz="1800"/>
            </a:pPr>
            <a:r>
              <a:rPr sz="1800"/>
              <a:t>Segwit2X increased the block size to 2 MB in November 2017.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/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Property / Assets</a:t>
            </a:r>
          </a:p>
          <a:p>
            <a:pPr>
              <a:defRPr sz="1800"/>
            </a:pPr>
            <a:r>
              <a:rPr sz="1800"/>
              <a:t>Any type of physical or digital property can be registered on blockchain, including laptops, mobile phones, diamonds, automobiles, real estate, e-registrations, and digital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Financial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Other Financial Applications</a:t>
            </a:r>
          </a:p>
          <a:p>
            <a:pPr>
              <a:defRPr sz="1800"/>
            </a:pPr>
            <a:r>
              <a:rPr sz="1800"/>
              <a:t>Cross-border payments, share trading, loyalty and rewards systems, Know Your Customer (KYC) among banks, and Initial Coin Offering (ICO) for raising funds by issuing new cryptocurrencies.</a:t>
            </a:r>
          </a:p>
          <a:p>
            <a:pPr>
              <a:defRPr sz="1800"/>
            </a:pPr>
            <a:r>
              <a:rPr sz="1800"/>
              <a:t>}</a:t>
            </a:r>
          </a:p>
          <a:p>
            <a:pPr>
              <a:defRPr sz="1800"/>
            </a:pPr>
            <a:r>
              <a:rPr sz="1800"/>
              <a:t>\boxed{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Introduction to Blockchain in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